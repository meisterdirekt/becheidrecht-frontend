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800"/>
            <a:ext cx="12191695" cy="54864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A5E9"/>
                </a:solidFill>
                <a:latin typeface="Calibri"/>
              </a:defRPr>
            </a:pPr>
            <a:r>
              <a:t>PARTNER-PRÄSENTATION  ·  VERTRAULICH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F172A"/>
                </a:solidFill>
                <a:latin typeface="Calibri"/>
              </a:defRPr>
            </a:pPr>
            <a:r>
              <a:t>BescheidRecht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00"/>
              </a:lnSpc>
              <a:defRPr sz="2600" b="1">
                <a:solidFill>
                  <a:srgbClr val="334155"/>
                </a:solidFill>
                <a:latin typeface="Calibri"/>
              </a:defRPr>
            </a:pPr>
            <a:r>
              <a:t>Technische Bescheid-Analyse</a:t>
            </a:r>
          </a:p>
          <a:p>
            <a:pPr algn="l">
              <a:lnSpc>
                <a:spcPts val="3400"/>
              </a:lnSpc>
              <a:defRPr sz="2600" b="1">
                <a:solidFill>
                  <a:srgbClr val="334155"/>
                </a:solidFill>
                <a:latin typeface="Calibri"/>
              </a:defRPr>
            </a:pPr>
            <a:r>
              <a:t>für soziale Einrichtungen.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5943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defRPr sz="1400" b="0">
                <a:solidFill>
                  <a:srgbClr val="64748B"/>
                </a:solidFill>
                <a:latin typeface="Calibri"/>
              </a:defRPr>
            </a:pPr>
            <a:r>
              <a:t>Wie Einrichtungen wie Caritas, AWO und Diakonie täglich Stunden sparen —</a:t>
            </a:r>
            <a:br/>
            <a:r>
              <a:t>und mehr Klientinnen und Klienten strukturiert unterstützen.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28016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3095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34155"/>
                </a:solidFill>
                <a:latin typeface="Calibri"/>
              </a:defRPr>
            </a:pPr>
            <a:r>
              <a:t>Caritas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5303520"/>
            <a:ext cx="128016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533095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34155"/>
                </a:solidFill>
                <a:latin typeface="Calibri"/>
              </a:defRPr>
            </a:pPr>
            <a:r>
              <a:t>AWO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5303520"/>
            <a:ext cx="128016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533095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34155"/>
                </a:solidFill>
                <a:latin typeface="Calibri"/>
              </a:defRPr>
            </a:pPr>
            <a:r>
              <a:t>Diakonie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5303520"/>
            <a:ext cx="128016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533095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34155"/>
                </a:solidFill>
                <a:latin typeface="Calibri"/>
              </a:defRPr>
            </a:pPr>
            <a:r>
              <a:t>DRK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5303520"/>
            <a:ext cx="128016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533095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34155"/>
                </a:solidFill>
                <a:latin typeface="Calibri"/>
              </a:defRPr>
            </a:pPr>
            <a:r>
              <a:t>Paritätischer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98932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603504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EA5E9"/>
                </a:solidFill>
                <a:latin typeface="Calibri"/>
              </a:defRPr>
            </a:pPr>
            <a:r>
              <a:t>163+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635508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94A3B8"/>
                </a:solidFill>
                <a:latin typeface="Calibri"/>
              </a:defRPr>
            </a:pPr>
            <a:r>
              <a:t>Fehlertypen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603504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EA5E9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635508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94A3B8"/>
                </a:solidFill>
                <a:latin typeface="Calibri"/>
              </a:defRPr>
            </a:pPr>
            <a:r>
              <a:t>Rechtsgebiete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03504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EA5E9"/>
                </a:solidFill>
                <a:latin typeface="Calibri"/>
              </a:defRPr>
            </a:pPr>
            <a:r>
              <a:t>&lt; 90s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635508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94A3B8"/>
                </a:solidFill>
                <a:latin typeface="Calibri"/>
              </a:defRPr>
            </a:pPr>
            <a:r>
              <a:t>Analysezeit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59" y="603504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EA5E9"/>
                </a:solidFill>
                <a:latin typeface="Calibri"/>
              </a:defRPr>
            </a:pPr>
            <a:r>
              <a:t>DSGVO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59" y="635508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94A3B8"/>
                </a:solidFill>
                <a:latin typeface="Calibri"/>
              </a:defRPr>
            </a:pPr>
            <a:r>
              <a:t>Art. 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94A3B8"/>
                </a:solidFill>
                <a:latin typeface="Calibri"/>
              </a:defRPr>
            </a:pPr>
            <a:r>
              <a:t>Technisches Analyse-Werkzeug gem. § 2 Abs. 1 RDG. Kein Ersatz für Rechtsberatung.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A5E9"/>
                </a:solidFill>
                <a:latin typeface="Calibri"/>
              </a:defRPr>
            </a:pPr>
            <a:r>
              <a:t>01  ·  DAS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400"/>
              </a:lnSpc>
              <a:defRPr sz="3600" b="1">
                <a:solidFill>
                  <a:srgbClr val="0F172A"/>
                </a:solidFill>
                <a:latin typeface="Calibri"/>
              </a:defRPr>
            </a:pPr>
            <a:r>
              <a:t>Jeder fehlerhafte Bescheid</a:t>
            </a:r>
            <a:br/>
            <a:r>
              <a:t>kostet Ihre Klienten bares Geld.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6400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defRPr sz="1500" b="0">
                <a:solidFill>
                  <a:srgbClr val="64748B"/>
                </a:solidFill>
                <a:latin typeface="Calibri"/>
              </a:defRPr>
            </a:pPr>
            <a:r>
              <a:t>Soziale Einrichtungen kämpfen täglich: zu viele Fälle, zu wenig Zeit, keine KI-Werkzeuge.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383280" cy="2560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800" b="1">
                <a:solidFill>
                  <a:srgbClr val="EF4444"/>
                </a:solidFill>
                <a:latin typeface="Calibri"/>
              </a:defRPr>
            </a:pPr>
            <a:r>
              <a:t>~40 %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77639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Erfolgreiche Widersprüche*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26517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000" b="0">
                <a:solidFill>
                  <a:srgbClr val="334155"/>
                </a:solidFill>
                <a:latin typeface="Calibri"/>
              </a:defRPr>
            </a:pPr>
            <a:r>
              <a:t>Der Widersprüche gegen Jobcenter-Bescheide</a:t>
            </a:r>
            <a:br/>
            <a:r>
              <a:t>sind ganz oder teilweise erfolgreich — die</a:t>
            </a:r>
            <a:br/>
            <a:r>
              <a:t>Fehler sind da, nur nicht systematisch gefunden.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200400"/>
            <a:ext cx="3383280" cy="25603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338328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800" b="1">
                <a:solidFill>
                  <a:srgbClr val="F59E0B"/>
                </a:solidFill>
                <a:latin typeface="Calibri"/>
              </a:defRPr>
            </a:pPr>
            <a:r>
              <a:t>3–8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977639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Pro komplexem Fall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4389120"/>
            <a:ext cx="26517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000" b="0">
                <a:solidFill>
                  <a:srgbClr val="334155"/>
                </a:solidFill>
                <a:latin typeface="Calibri"/>
              </a:defRPr>
            </a:pPr>
            <a:r>
              <a:t>Verbringt eine Fachkraft erfahrungsgemäß</a:t>
            </a:r>
            <a:br/>
            <a:r>
              <a:t>mit manueller Recherche, Paragraph-Suche</a:t>
            </a:r>
            <a:br/>
            <a:r>
              <a:t>und Briefentwurf — Zeit, die fehlt.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3200400"/>
            <a:ext cx="3383280" cy="2560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38328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800" b="1">
                <a:solidFill>
                  <a:srgbClr val="EF4444"/>
                </a:solidFill>
                <a:latin typeface="Calibri"/>
              </a:defRPr>
            </a:pPr>
            <a:r>
              <a:t>1 Monat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977639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Widerspruchsfrist (§ 84 SGG)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389120"/>
            <a:ext cx="26517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000" b="0">
                <a:solidFill>
                  <a:srgbClr val="334155"/>
                </a:solidFill>
                <a:latin typeface="Calibri"/>
              </a:defRPr>
            </a:pPr>
            <a:r>
              <a:t>Läuft ohne systematische Fristüberwachung</a:t>
            </a:r>
            <a:br/>
            <a:r>
              <a:t>ungenutzt ab. Verpasste Frist = kein</a:t>
            </a:r>
            <a:br/>
            <a:r>
              <a:t>Widerspruch mehr möglich.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989320"/>
            <a:ext cx="106984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6016752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34155"/>
                </a:solidFill>
                <a:latin typeface="Calibri"/>
              </a:defRPr>
            </a:pPr>
            <a:r>
              <a:t>„Unsere Berater:innen wissen oft, dass etwas nicht stimmt — aber sie haben nicht die Zeit, es systematisch zu prüfen.“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6291072"/>
            <a:ext cx="8229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Typisches Feedback aus Sozialberatungen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10058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94A3B8"/>
                </a:solidFill>
                <a:latin typeface="Calibri"/>
              </a:defRPr>
            </a:pPr>
            <a:r>
              <a:t>* Quelle: Statistik der Bundesagentur für Arbeit, Widersprüche und Klagen SGB II (2025). Inkl. Teilabhilfe.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A5E9"/>
                </a:solidFill>
                <a:latin typeface="Calibri"/>
              </a:defRPr>
            </a:pPr>
            <a:r>
              <a:t>02  ·  DIE LÖSUNG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400"/>
              </a:lnSpc>
              <a:defRPr sz="3600" b="1">
                <a:solidFill>
                  <a:srgbClr val="0F172A"/>
                </a:solidFill>
                <a:latin typeface="Calibri"/>
              </a:defRPr>
            </a:pPr>
            <a:r>
              <a:t>BescheidRecht: Technische Analyse</a:t>
            </a:r>
            <a:br/>
            <a:r>
              <a:t>für Ihre Fachkräfte.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6400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defRPr sz="1500" b="0">
                <a:solidFill>
                  <a:srgbClr val="64748B"/>
                </a:solidFill>
                <a:latin typeface="Calibri"/>
              </a:defRPr>
            </a:pPr>
            <a:r>
              <a:t>Fachkraft lädt den Bescheid hoch — BescheidRecht analysiert auf Unstimmigkeiten</a:t>
            </a:r>
            <a:br/>
            <a:r>
              <a:t>und erstellt eine Musterschreiben-Vorlage. In unter 90 Sekunden.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39496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42900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0F172A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42900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13 KI-Agenten in Parallel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794760"/>
            <a:ext cx="38404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>
                <a:solidFill>
                  <a:srgbClr val="64748B"/>
                </a:solidFill>
                <a:latin typeface="Calibri"/>
              </a:defRPr>
            </a:pPr>
            <a:r>
              <a:t>Spezialisierte Agenten prüfen gleichzeitig</a:t>
            </a:r>
            <a:br/>
            <a:r>
              <a:t>auf Fristen, Rechtsbasis, Formfehler</a:t>
            </a:r>
            <a:br/>
            <a:r>
              <a:t>und Begründungsmängel.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00400"/>
            <a:ext cx="539496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42900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0F172A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342900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163+ geprüfte Fehlertypen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3794760"/>
            <a:ext cx="38404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>
                <a:solidFill>
                  <a:srgbClr val="64748B"/>
                </a:solidFill>
                <a:latin typeface="Calibri"/>
              </a:defRPr>
            </a:pPr>
            <a:r>
              <a:t>Technische Prüfung über 16 Rechtsgebiete:</a:t>
            </a:r>
            <a:br/>
            <a:r>
              <a:t>SGB II bis XII, BAMF, BAföG,</a:t>
            </a:r>
            <a:br/>
            <a:r>
              <a:t>Wohngeld und mehr.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539496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6636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0F172A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16636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DSGVO by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532120"/>
            <a:ext cx="38404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>
                <a:solidFill>
                  <a:srgbClr val="64748B"/>
                </a:solidFill>
                <a:latin typeface="Calibri"/>
              </a:defRPr>
            </a:pPr>
            <a:r>
              <a:t>Vollautomatische Pseudonymisierung aller</a:t>
            </a:r>
            <a:br/>
            <a:r>
              <a:t>Klientendaten vor jeder KI-Analyse.</a:t>
            </a:r>
            <a:br/>
            <a:r>
              <a:t>Art. 25 DSGVO erfüllt.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937760"/>
            <a:ext cx="539496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516636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0F172A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516636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&lt; 90 Sekunden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5532120"/>
            <a:ext cx="38404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>
                <a:solidFill>
                  <a:srgbClr val="64748B"/>
                </a:solidFill>
                <a:latin typeface="Calibri"/>
              </a:defRPr>
            </a:pPr>
            <a:r>
              <a:t>Von Hochladen bis Analyse-Ergebnis</a:t>
            </a:r>
            <a:br/>
            <a:r>
              <a:t>mit Musterschreiben-Vorlage</a:t>
            </a:r>
            <a:br/>
            <a:r>
              <a:t>als DIN A4 PDF.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BAE6FD"/>
                </a:solidFill>
                <a:latin typeface="Calibri"/>
              </a:defRPr>
            </a:pPr>
            <a:r>
              <a:t>03  ·  SO FUNKTIONIERT 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400"/>
              </a:lnSpc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 3 Schritten</a:t>
            </a:r>
            <a:br/>
            <a:r>
              <a:t>zur strukturierten Analyse.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474720" cy="292608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8346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EA5E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Bescheid hochladen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77639"/>
            <a:ext cx="29260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100" b="0">
                <a:solidFill>
                  <a:srgbClr val="E0F2FE"/>
                </a:solidFill>
                <a:latin typeface="Calibri"/>
              </a:defRPr>
            </a:pPr>
            <a:r>
              <a:t>Fachkraft lädt PDF oder Scan hoch.</a:t>
            </a:r>
            <a:br/>
            <a:r>
              <a:t>Automatische Pseudonymisierung</a:t>
            </a:r>
            <a:br/>
            <a:r>
              <a:t>schützt alle Klientendaten sofort —</a:t>
            </a:r>
            <a:br/>
            <a:r>
              <a:t>kein manueller Aufwand.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560320"/>
            <a:ext cx="3474720" cy="292608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79" y="28346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880360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EA5E9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52044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KI analysiert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977639"/>
            <a:ext cx="29260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100" b="0">
                <a:solidFill>
                  <a:srgbClr val="E0F2FE"/>
                </a:solidFill>
                <a:latin typeface="Calibri"/>
              </a:defRPr>
            </a:pPr>
            <a:r>
              <a:t>13 spezialisierte Agenten prüfen auf</a:t>
            </a:r>
            <a:br/>
            <a:r>
              <a:t>163+ Fehlertypen, berechnen Fristen</a:t>
            </a:r>
            <a:br/>
            <a:r>
              <a:t>und identifizieren Unstimmigkeiten —</a:t>
            </a:r>
            <a:br/>
            <a:r>
              <a:t>in unter 90 Sekunden.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60320"/>
            <a:ext cx="3474720" cy="292608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03920" y="28346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880360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EA5E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52044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Vorlage exportieren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977639"/>
            <a:ext cx="29260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100" b="0">
                <a:solidFill>
                  <a:srgbClr val="E0F2FE"/>
                </a:solidFill>
                <a:latin typeface="Calibri"/>
              </a:defRPr>
            </a:pPr>
            <a:r>
              <a:t>Musterschreiben-Vorlage als DIN A4</a:t>
            </a:r>
            <a:br/>
            <a:r>
              <a:t>PDF. Fachkraft prüft, ergänzt —</a:t>
            </a:r>
            <a:br/>
            <a:r>
              <a:t>als Basis für das Gespräch mit</a:t>
            </a:r>
            <a:br/>
            <a:r>
              <a:t>Anwalt oder Sozialverband.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6576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6576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760720"/>
            <a:ext cx="2011680" cy="82296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8064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163+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6172200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BAE6FD"/>
                </a:solidFill>
                <a:latin typeface="Calibri"/>
              </a:defRPr>
            </a:pPr>
            <a:r>
              <a:t>Fehlertypen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5760720"/>
            <a:ext cx="2011680" cy="82296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58064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6172200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BAE6FD"/>
                </a:solidFill>
                <a:latin typeface="Calibri"/>
              </a:defRPr>
            </a:pPr>
            <a:r>
              <a:t>Rechtsgebiete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5760720"/>
            <a:ext cx="2011680" cy="82296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8064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&lt; 90s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6172200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BAE6FD"/>
                </a:solidFill>
                <a:latin typeface="Calibri"/>
              </a:defRPr>
            </a:pPr>
            <a:r>
              <a:t>Analysezeit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59" y="5760720"/>
            <a:ext cx="2011680" cy="82296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59" y="58064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59" y="6172200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BAE6FD"/>
                </a:solidFill>
                <a:latin typeface="Calibri"/>
              </a:defRPr>
            </a:pPr>
            <a:r>
              <a:t>DSGVO-konform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7DD3FC"/>
                </a:solidFill>
                <a:latin typeface="Calibr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A5E9"/>
                </a:solidFill>
                <a:latin typeface="Calibri"/>
              </a:defRPr>
            </a:pPr>
            <a:r>
              <a:t>04  ·  ZIELGRUPPE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Gebaut für soziale Einrichtungen.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400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defRPr sz="1500" b="0">
                <a:solidFill>
                  <a:srgbClr val="64748B"/>
                </a:solidFill>
                <a:latin typeface="Calibri"/>
              </a:defRPr>
            </a:pPr>
            <a:r>
              <a:t>Überall dort, wo Fachkräfte täglich Bescheide prüfen — für Klienten, die strukturierte Unterstützung brauchen.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394960" cy="1508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Caritas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>
                <a:solidFill>
                  <a:srgbClr val="64748B"/>
                </a:solidFill>
                <a:latin typeface="Calibri"/>
              </a:defRPr>
            </a:pPr>
            <a:r>
              <a:t>Sozialberatung, Schuldnerberatung,</a:t>
            </a:r>
            <a:br/>
            <a:r>
              <a:t>Migrationsberatung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A5E9"/>
                </a:solidFill>
                <a:latin typeface="Calibri"/>
              </a:defRPr>
            </a:pPr>
            <a:r>
              <a:t>Jobcenter · Sozialamt · BAMF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5394960" cy="1508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9260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AWO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29184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>
                <a:solidFill>
                  <a:srgbClr val="64748B"/>
                </a:solidFill>
                <a:latin typeface="Calibri"/>
              </a:defRPr>
            </a:pPr>
            <a:r>
              <a:t>Allgemeine Sozialberatung,</a:t>
            </a:r>
            <a:br/>
            <a:r>
              <a:t>Jugend- und Familienhilfe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8404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A5E9"/>
                </a:solidFill>
                <a:latin typeface="Calibri"/>
              </a:defRPr>
            </a:pPr>
            <a:r>
              <a:t>Jugendamt · Jobcenter · Rente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5394960" cy="1508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Diakonie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98348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>
                <a:solidFill>
                  <a:srgbClr val="64748B"/>
                </a:solidFill>
                <a:latin typeface="Calibri"/>
              </a:defRPr>
            </a:pPr>
            <a:r>
              <a:t>Wohnungslosenberatung,</a:t>
            </a:r>
            <a:br/>
            <a:r>
              <a:t>Suchtberatung, Flüchtlingshilfe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5321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A5E9"/>
                </a:solidFill>
                <a:latin typeface="Calibri"/>
              </a:defRPr>
            </a:pPr>
            <a:r>
              <a:t>Sozialamt · Jobcenter · BAMF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434840"/>
            <a:ext cx="5394960" cy="1508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6177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DRK + Paritätischer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98348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>
                <a:solidFill>
                  <a:srgbClr val="64748B"/>
                </a:solidFill>
                <a:latin typeface="Calibri"/>
              </a:defRPr>
            </a:pPr>
            <a:r>
              <a:t>Krankenhaussozialdienst,</a:t>
            </a:r>
            <a:br/>
            <a:r>
              <a:t>Pflegeberatung, Seniorenhilfe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5321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A5E9"/>
                </a:solidFill>
                <a:latin typeface="Calibri"/>
              </a:defRPr>
            </a:pPr>
            <a:r>
              <a:t>Krankenkasse · Pflegekasse · MDK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6035040"/>
            <a:ext cx="10698480" cy="594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6053328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In Deutschland gibt es über 1.400 Caritas- und AWO-Kreisverbände allein.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6355080"/>
            <a:ext cx="10058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Dazu kommen Diakonie, DRK, Paritätischer und hunderte kommunale Beratungsstellen.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A5E9"/>
                </a:solidFill>
                <a:latin typeface="Calibri"/>
              </a:defRPr>
            </a:pPr>
            <a:r>
              <a:t>05  ·  WIRTSCHAFTLICHKEIT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Der ROI rechnet sich ab Tag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400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0">
                <a:solidFill>
                  <a:srgbClr val="64748B"/>
                </a:solidFill>
                <a:latin typeface="Calibri"/>
              </a:defRPr>
            </a:pPr>
            <a:r>
              <a:t>Rechenbeispiel: Einrichtung mit 5 Beratern, 20 Bescheide pro Berater/Monat, Ø 35 €/h Personalkosten.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02920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83464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Bescheide / Monat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1089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 Berater × 20 Bescheide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5029200" cy="7315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EA5E9"/>
                </a:solidFill>
                <a:latin typeface="Calibri"/>
              </a:defRPr>
            </a:pPr>
            <a:r>
              <a:t>40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70332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Zeitersparnis / Monat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97764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100 Bescheide × 24 Min. Ersparnis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5029200" cy="7315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5720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EA5E9"/>
                </a:solidFill>
                <a:latin typeface="Calibri"/>
              </a:defRPr>
            </a:pPr>
            <a:r>
              <a:t>1.400 €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57200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Wert der Zeitersparnis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84632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40 Stunden × 35 €/h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49240"/>
            <a:ext cx="5029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EA5E9"/>
                </a:solidFill>
                <a:latin typeface="Calibri"/>
              </a:defRPr>
            </a:pPr>
            <a:r>
              <a:t>299 €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44068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Starter-Tarif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71500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bis 100 Analysen / Monat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743200"/>
            <a:ext cx="5029200" cy="3474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01752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2C55E"/>
                </a:solidFill>
                <a:latin typeface="Calibri"/>
              </a:defRPr>
            </a:pPr>
            <a:r>
              <a:t>NETTOVORTEIL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47472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22C55E"/>
                </a:solidFill>
                <a:latin typeface="Calibri"/>
              </a:defRPr>
            </a:pPr>
            <a:r>
              <a:t>+1.101 €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062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pro Monat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4632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EA5E9"/>
                </a:solidFill>
                <a:latin typeface="Calibri"/>
              </a:defRPr>
            </a:pPr>
            <a:r>
              <a:t>ROI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1206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EA5E9"/>
                </a:solidFill>
                <a:latin typeface="Calibri"/>
              </a:defRPr>
            </a:pPr>
            <a:r>
              <a:t>+368 %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7607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Berechnung: 25 Min. manuelle Prüfung – 1 Min. mit KI = 24 Min. Ersparnis/Bescheid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A5E9"/>
                </a:solidFill>
                <a:latin typeface="Calibri"/>
              </a:defRPr>
            </a:pPr>
            <a:r>
              <a:t>06  ·  DATENSCHUTZ &amp; SICHERHEIT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400"/>
              </a:lnSpc>
              <a:defRPr sz="3600" b="1">
                <a:solidFill>
                  <a:srgbClr val="0F172A"/>
                </a:solidFill>
                <a:latin typeface="Calibri"/>
              </a:defRPr>
            </a:pPr>
            <a:r>
              <a:t>DSGVO-konform by Design.</a:t>
            </a:r>
            <a:br/>
            <a:r>
              <a:t>Keine Kompromisse bei Klientendaten.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539496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0F172A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7432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Automatische Pseudonymisierung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063240"/>
            <a:ext cx="4114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000" b="0">
                <a:solidFill>
                  <a:srgbClr val="64748B"/>
                </a:solidFill>
                <a:latin typeface="Calibri"/>
              </a:defRPr>
            </a:pPr>
            <a:r>
              <a:t>Alle personenbezogenen Daten (Namen, IBAN, Geburtsdaten, Adressen)</a:t>
            </a:r>
            <a:br/>
            <a:r>
              <a:t>werden vor der KI-Analyse vollautomatisch anonymisiert.</a:t>
            </a:r>
            <a:br/>
            <a:r>
              <a:t>Keine manuellen Schritte nötig.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560320"/>
            <a:ext cx="539496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0F172A"/>
                </a:solidFill>
                <a:latin typeface="Calibri"/>
              </a:defRPr>
            </a:pPr>
            <a:r>
              <a:t>🇪🇺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7432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EU-Hosting / Art. 25 DSGVO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063240"/>
            <a:ext cx="4114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000" b="0">
                <a:solidFill>
                  <a:srgbClr val="64748B"/>
                </a:solidFill>
                <a:latin typeface="Calibri"/>
              </a:defRPr>
            </a:pPr>
            <a:r>
              <a:t>Alle Daten werden in der EU verarbeitet und gespeichert.</a:t>
            </a:r>
            <a:br/>
            <a:r>
              <a:t>DSGVO Art. 25 (Privacy by Design) ist von Anfang an implementiert.</a:t>
            </a:r>
            <a:br/>
            <a:r>
              <a:t>Kein Datentransfer in Drittländer.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539496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0F172A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663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AVV-ready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983480"/>
            <a:ext cx="4114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000" b="0">
                <a:solidFill>
                  <a:srgbClr val="64748B"/>
                </a:solidFill>
                <a:latin typeface="Calibri"/>
              </a:defRPr>
            </a:pPr>
            <a:r>
              <a:t>Auftragsverarbeitungsvertrag sofort verfügbar.</a:t>
            </a:r>
            <a:br/>
            <a:r>
              <a:t>TOM-Dokumentation nach Art. 32 DSGVO liegt vor.</a:t>
            </a:r>
            <a:br/>
            <a:r>
              <a:t>Komplett vorbereitet für Ihre Datenschutzbeauftragte.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480560"/>
            <a:ext cx="539496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66344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0F172A"/>
                </a:solidFill>
                <a:latin typeface="Calibri"/>
              </a:defRPr>
            </a:pPr>
            <a:r>
              <a:t>🗑️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663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Keine Datenspeicherung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983480"/>
            <a:ext cx="4114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000" b="0">
                <a:solidFill>
                  <a:srgbClr val="64748B"/>
                </a:solidFill>
                <a:latin typeface="Calibri"/>
              </a:defRPr>
            </a:pPr>
            <a:r>
              <a:t>Bescheid-Inhalte werden nach Analyse automatisch gelöscht.</a:t>
            </a:r>
            <a:br/>
            <a:r>
              <a:t>Keine Langzeitspeicherung von Klientendaten.</a:t>
            </a:r>
            <a:br/>
            <a:r>
              <a:t>Revisionssicher protokolliert.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A5E9"/>
                </a:solidFill>
                <a:latin typeface="Calibri"/>
              </a:defRPr>
            </a:pPr>
            <a:r>
              <a:t>07  ·  PREISE &amp; LIZENZEN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Team-Lizenzen. Transparente Preise.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Monatliche Flatrate — keine versteckten Kosten, monatlich kündbar.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6974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697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2697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249 €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2697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/ Monat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39"/>
            <a:ext cx="2697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A5E9"/>
                </a:solidFill>
                <a:latin typeface="Calibri"/>
              </a:defRPr>
            </a:pPr>
            <a:r>
              <a:t>1 Nutzer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✓  100 Analysen / Monat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✓  Schreiben-Generator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548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✓  Auto-Pseudonymisierung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2560320"/>
            <a:ext cx="2697480" cy="36576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60520" y="2377440"/>
            <a:ext cx="1554480" cy="320040"/>
          </a:xfrm>
          <a:prstGeom prst="roundRect">
            <a:avLst/>
          </a:prstGeom>
          <a:solidFill>
            <a:srgbClr val="07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2395728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★  EMPFOHLEN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834640"/>
            <a:ext cx="2697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BAE6FD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063240"/>
            <a:ext cx="2697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499 €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520440"/>
            <a:ext cx="2697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AE6FD"/>
                </a:solidFill>
                <a:latin typeface="Calibri"/>
              </a:defRPr>
            </a:pPr>
            <a:r>
              <a:t>/ Monat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749039"/>
            <a:ext cx="2697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E0F2FE"/>
                </a:solidFill>
                <a:latin typeface="Calibri"/>
              </a:defRPr>
            </a:pPr>
            <a:r>
              <a:t>Bis 3 Nutzer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41148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F2FE"/>
                </a:solidFill>
                <a:latin typeface="Calibri"/>
              </a:defRPr>
            </a:pPr>
            <a:r>
              <a:t>✓  400 Analysen / Monat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44348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F2FE"/>
                </a:solidFill>
                <a:latin typeface="Calibri"/>
              </a:defRPr>
            </a:pPr>
            <a:r>
              <a:t>✓  Fristen-Dashboard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7548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E0F2FE"/>
                </a:solidFill>
                <a:latin typeface="Calibri"/>
              </a:defRPr>
            </a:pPr>
            <a:r>
              <a:t>✓  Prioritäts-Support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2560320"/>
            <a:ext cx="26974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2834640"/>
            <a:ext cx="2697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Einrichtung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063240"/>
            <a:ext cx="2697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899 €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520440"/>
            <a:ext cx="2697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/ Monat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749039"/>
            <a:ext cx="2697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A5E9"/>
                </a:solidFill>
                <a:latin typeface="Calibri"/>
              </a:defRPr>
            </a:pPr>
            <a:r>
              <a:t>Bis 10 Nutzer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1148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✓  1.000 Analysen / Monat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4348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✓  Persönlicher Betreuer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7548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✓  Prioritäts-Support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72600" y="2560320"/>
            <a:ext cx="26974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46920" y="2834640"/>
            <a:ext cx="2697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Rahmenvertrag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3063240"/>
            <a:ext cx="2697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Auf Anfrage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749039"/>
            <a:ext cx="2697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A5E9"/>
                </a:solidFill>
                <a:latin typeface="Calibri"/>
              </a:defRPr>
            </a:pPr>
            <a:r>
              <a:t>Mehrere Standorte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41148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✓  Ab 3.000 Analysen &amp; SLA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44348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✓  Compliance-Paket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47548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✓  Dedizierter Betreuer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Alle Preise zzgl. MwSt.  ·  Jahresvertrag auf Anfrage  ·  Pilotprojekte mit Sonderkonditionen möglich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A5E9"/>
                </a:solidFill>
                <a:latin typeface="Calibri"/>
              </a:defRPr>
            </a:pPr>
            <a:r>
              <a:t>08  ·  WARUM JETZT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Das Zeitfenster ist jetzt.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Vier Entwicklungen treffen gerade zusammen — und schaffen ein einmaliges Momentum.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39496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0F172A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92608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SGB-Reformen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41148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>
                <a:solidFill>
                  <a:srgbClr val="64748B"/>
                </a:solidFill>
                <a:latin typeface="Calibri"/>
              </a:defRPr>
            </a:pPr>
            <a:r>
              <a:t>Neue Regelsätze und Leistungsänderungen</a:t>
            </a:r>
            <a:br/>
            <a:r>
              <a:t>bedeutenungen: mehr fehlerhafte Bescheide,</a:t>
            </a:r>
            <a:br/>
            <a:r>
              <a:t>mehr Widerspruchsbedarf.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539496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0F172A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92608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Steigende Fallzahlen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46120"/>
            <a:ext cx="41148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>
                <a:solidFill>
                  <a:srgbClr val="64748B"/>
                </a:solidFill>
                <a:latin typeface="Calibri"/>
              </a:defRPr>
            </a:pPr>
            <a:r>
              <a:t>Einrichtungen berichten von 20–40 % mehr</a:t>
            </a:r>
            <a:br/>
            <a:r>
              <a:t>Beratungsanfragen seit 2024 — ohne</a:t>
            </a:r>
            <a:br/>
            <a:r>
              <a:t>proportionale Personalaufstockung.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539496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4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0F172A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663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KI ist produktionsreif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983480"/>
            <a:ext cx="41148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>
                <a:solidFill>
                  <a:srgbClr val="64748B"/>
                </a:solidFill>
                <a:latin typeface="Calibri"/>
              </a:defRPr>
            </a:pPr>
            <a:r>
              <a:t>2025 ist das erste Jahr, in dem KI-gestützte</a:t>
            </a:r>
            <a:br/>
            <a:r>
              <a:t>Rechtsanalyse vollständig DSGVO-konform</a:t>
            </a:r>
            <a:br/>
            <a:r>
              <a:t>und praxistauglich umsetzbar ist.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480560"/>
            <a:ext cx="539496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66344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0F172A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663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First Mover Vorteil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983480"/>
            <a:ext cx="41148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>
                <a:solidFill>
                  <a:srgbClr val="64748B"/>
                </a:solidFill>
                <a:latin typeface="Calibri"/>
              </a:defRPr>
            </a:pPr>
            <a:r>
              <a:t>Erste Einrichtungen, die einführen, setzen</a:t>
            </a:r>
            <a:br/>
            <a:r>
              <a:t>den Standard — und gewinnen Kapazitäten</a:t>
            </a:r>
            <a:br/>
            <a:r>
              <a:t>zurück, die Mitbewerber noch nicht haben.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6126480"/>
            <a:ext cx="10698480" cy="5029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172200"/>
            <a:ext cx="10698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Einrichtungen, die jetzt starten, sparen ab Tag 1 Fachkraft-Kapazitäten.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10698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AE6FD"/>
                </a:solidFill>
                <a:latin typeface="Calibri"/>
              </a:defRPr>
            </a:pPr>
            <a:r>
              <a:t>Pilotprojekte mit bevorzugten Konditionen für frühe Partner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A5E9"/>
                </a:solidFill>
                <a:latin typeface="Calibri"/>
              </a:defRPr>
            </a:pPr>
            <a:r>
              <a:t>09  ·  NÄCHSTE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0F172A"/>
                </a:solidFill>
                <a:latin typeface="Calibri"/>
              </a:defRPr>
            </a:pPr>
            <a:r>
              <a:t>Bereit für eine Demo?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743200"/>
            <a:ext cx="6675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defRPr sz="1500" b="0">
                <a:solidFill>
                  <a:srgbClr val="64748B"/>
                </a:solidFill>
                <a:latin typeface="Calibri"/>
              </a:defRPr>
            </a:pPr>
            <a:r>
              <a:t>Wir zeigen Ihnen in 30 Minuten, wie BescheidRecht</a:t>
            </a:r>
            <a:br/>
            <a:r>
              <a:t>konkret in Ihre Arbeitsabläufe passt.</a:t>
            </a:r>
            <a:br/>
            <a:r>
              <a:t>Kostenlos, unverbindlich, auf Ihre Einrichtung zugeschnitten.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840480"/>
            <a:ext cx="2743200" cy="594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3904487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Demo vereinbaren  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2743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3904487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334155"/>
                </a:solidFill>
                <a:latin typeface="Calibri"/>
              </a:defRPr>
            </a:pPr>
            <a:r>
              <a:t>Pilotprojekt anfragen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8463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EA5E9"/>
                </a:solidFill>
                <a:latin typeface="Calibri"/>
              </a:defRPr>
            </a:pPr>
            <a:r>
              <a:t>&lt; 1 Woche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16636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94A3B8"/>
                </a:solidFill>
                <a:latin typeface="Calibri"/>
              </a:defRPr>
            </a:pPr>
            <a:r>
              <a:t>Onboarding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8463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EA5E9"/>
                </a:solidFill>
                <a:latin typeface="Calibri"/>
              </a:defRPr>
            </a:pPr>
            <a:r>
              <a:t>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516636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94A3B8"/>
                </a:solidFill>
                <a:latin typeface="Calibri"/>
              </a:defRPr>
            </a:pPr>
            <a:r>
              <a:t>Auf Anfrage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8463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EA5E9"/>
                </a:solidFill>
                <a:latin typeface="Calibri"/>
              </a:defRPr>
            </a:pPr>
            <a:r>
              <a:t>Monatlich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16636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94A3B8"/>
                </a:solidFill>
                <a:latin typeface="Calibri"/>
              </a:defRPr>
            </a:pPr>
            <a:r>
              <a:t>Kündbar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BescheidRecht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080760"/>
            <a:ext cx="121916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bescheidrecht.de  ·  kontakt@bescheidrecht.de  · 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94A3B8"/>
                </a:solidFill>
                <a:latin typeface="Calibri"/>
              </a:defRPr>
            </a:pPr>
            <a:r>
              <a:t>Technisches Analyse-Werkzeug gem. § 2 Abs. 1 RDG. Kein Ersatz für Rechtsberatung.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